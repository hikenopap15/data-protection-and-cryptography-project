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Lexend Deca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1bbc2904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1bbc2904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1bbc2904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1bbc2904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bbc2904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bbc2904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1bbc2904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1bbc2904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1bbc2904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1bbc2904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bbc2904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1bbc2904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1bbc2904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1bbc29049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1bbc2904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1bbc2904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1bbc2904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1bbc2904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1bbc2904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1bbc2904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1bbc29049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1bbc29049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1bbc29049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1bbc29049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42525" y="42525"/>
            <a:ext cx="2000100" cy="2000100"/>
          </a:xfrm>
          <a:prstGeom prst="ellipse">
            <a:avLst/>
          </a:prstGeom>
          <a:gradFill>
            <a:gsLst>
              <a:gs pos="0">
                <a:srgbClr val="00FFFF">
                  <a:alpha val="54117"/>
                </a:srgbClr>
              </a:gs>
              <a:gs pos="73000">
                <a:srgbClr val="00FFFF">
                  <a:alpha val="0"/>
                </a:srgbClr>
              </a:gs>
              <a:gs pos="100000">
                <a:srgbClr val="00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343850" y="866400"/>
            <a:ext cx="4185600" cy="36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Font typeface="Lexend Deca"/>
              <a:buChar char="⬡"/>
              <a:defRPr sz="3000"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∙"/>
              <a:defRPr sz="3000"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●"/>
              <a:defRPr sz="3000"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419100" rtl="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○"/>
              <a:defRPr sz="3000"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SzPts val="3000"/>
              <a:buFont typeface="Lexend Deca"/>
              <a:buChar char="■"/>
              <a:defRPr sz="3000"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826414" y="656117"/>
            <a:ext cx="6138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72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3753943" y="1352550"/>
            <a:ext cx="2841000" cy="31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⬡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4056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780447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4980344" y="1352550"/>
            <a:ext cx="2005800" cy="320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⬡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∙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80550" y="4406300"/>
            <a:ext cx="61359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450425" y="494650"/>
            <a:ext cx="5067900" cy="223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4400" b="0">
                <a:latin typeface="Calibri"/>
                <a:ea typeface="Calibri"/>
                <a:cs typeface="Calibri"/>
                <a:sym typeface="Calibri"/>
              </a:rPr>
              <a:t>A Mathematical and Practical Study of the PRESENT Cipher</a:t>
            </a:r>
            <a:endParaRPr sz="440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450425" y="3152900"/>
            <a:ext cx="3363600" cy="17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</a:rPr>
              <a:t>•</a:t>
            </a: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Lazaros Papakostas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International Hellenic University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Course: Data Protection and Cryptography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Professor: Dr. Stavrinides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17500" y="1227750"/>
            <a:ext cx="5928000" cy="3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ul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 is the PRESENT Cipher?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Internal Structure of PRESENT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AddRoundKey &amp; sBoxLayer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Permutation Layer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Key Scheduling Process (80-bit Key)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Process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Mathematical Foundations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One-Round Example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What is the PRESENT Cipher?</a:t>
            </a:r>
            <a:endParaRPr sz="200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SzPts val="1200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 lightweight block cipher, introduced in 2007 by Orange Labs, Ruhr University Bochum, Technical University of Denmark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Renowned for its smaller size, about 2.5 smaller than AES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64-bit block size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Key size: 80 or 128 bits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31 rounds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4-bit S-box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ISO/IEC 29192-2 standard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Hardware-oriented, low-power, small-area footprint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580550" y="227450"/>
            <a:ext cx="4955400" cy="528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Internal Structure of PRESENT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580550" y="1040851"/>
            <a:ext cx="4021800" cy="370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Structure of the cipher: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AddRoundKey step: XOR with round key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Substitution Layer (sBoxLayer): 16 × 4-bit S-boxes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Permutation Layer (pLayer): Bit-wise permutation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Repetition of all 3 steps for 31 rounds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Application of final whitening key after last round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9" name="Google Shape;89;p16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425" y="1169649"/>
            <a:ext cx="4236850" cy="29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AddRoundKey &amp; sBoxLayer</a:t>
            </a:r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AddRoundKey: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XORs current 64-bit state with 64-bit round key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Each round key is derived from master key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For round i, round key k</a:t>
            </a:r>
            <a:r>
              <a:rPr lang="en" sz="1800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=k</a:t>
            </a:r>
            <a:r>
              <a:rPr lang="en" sz="1800" baseline="-25000">
                <a:latin typeface="Arial"/>
                <a:ea typeface="Arial"/>
                <a:cs typeface="Arial"/>
                <a:sym typeface="Arial"/>
              </a:rPr>
              <a:t>63</a:t>
            </a:r>
            <a:r>
              <a:rPr lang="en" sz="1800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….k</a:t>
            </a:r>
            <a:r>
              <a:rPr lang="en" sz="1800" baseline="-25000"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" sz="1800" baseline="30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is XORed with the data b</a:t>
            </a:r>
            <a:r>
              <a:rPr lang="en" sz="1800" baseline="-250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b</a:t>
            </a:r>
            <a:r>
              <a:rPr lang="en" sz="1800" baseline="-250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→b</a:t>
            </a:r>
            <a:r>
              <a:rPr lang="en" sz="1800" baseline="-250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⊕k</a:t>
            </a:r>
            <a:r>
              <a:rPr lang="en" sz="1800" baseline="-25000"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" sz="1800" baseline="30000">
                <a:latin typeface="Arial"/>
                <a:ea typeface="Arial"/>
                <a:cs typeface="Arial"/>
                <a:sym typeface="Arial"/>
              </a:rPr>
              <a:t>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sBoxLayer: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Division of state into 16 × 4-bit nibbles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Application of substitution by S-box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Introduction of non-linearity and confusion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97" name="Google Shape;97;p17" title="εικόνα_2025-04-29_2258534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50" y="4540525"/>
            <a:ext cx="6074026" cy="4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Permutation Layer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130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Rearrangement of 64 bits via a fixed permutation table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Enhances diffusion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05" name="Google Shape;105;p18" title="εικόνα_2025-04-29_2303174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50" y="2499275"/>
            <a:ext cx="5565501" cy="201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Permutation Layer</a:t>
            </a:r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12" name="Google Shape;112;p19" title="εικόνα_2025-04-29_2306017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50" y="2172175"/>
            <a:ext cx="6691549" cy="27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580550" y="1274888"/>
            <a:ext cx="50127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Char char="⬡"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output bit depends on bits from multiple S-box outputs</a:t>
            </a:r>
            <a:endParaRPr sz="2400">
              <a:solidFill>
                <a:schemeClr val="lt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9361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Key Scheduling Process (80-bit Key)</a:t>
            </a:r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7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Each round key is generated as follows: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1. Left rotate the 80-bit master key by 61 positions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79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78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…K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 = 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…K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800" baseline="-250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2. Apply the S-box to the 4 most significant bits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79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78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77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76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 = S[K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79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78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77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76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]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3. XOR bits [19:15] with round counter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 = [K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 dirty="0"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] ⊕ roundcounter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 dirty="0">
                <a:latin typeface="Calibri"/>
                <a:ea typeface="Calibri"/>
                <a:cs typeface="Calibri"/>
                <a:sym typeface="Calibri"/>
              </a:rPr>
              <a:t>Then extract the leftmost 64 bits as the round key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Decryption Process</a:t>
            </a:r>
            <a:endParaRPr sz="2000"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580550" y="1364450"/>
            <a:ext cx="5936100" cy="32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Same round keys used in reverse order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Inverse operations applied: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Inverse pLayer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Inverse S-box substitution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AddRoundKey (self-inverse)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Ciphertext is restored to original plaintext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Mathematical Foundations</a:t>
            </a:r>
            <a:endParaRPr sz="2000"/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1"/>
          </p:nvPr>
        </p:nvSpPr>
        <p:spPr>
          <a:xfrm>
            <a:off x="580550" y="1153775"/>
            <a:ext cx="5710800" cy="38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PRESENT follows the Substitution-Permutation Network (SPN) model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Round function: R</a:t>
            </a:r>
            <a:r>
              <a:rPr lang="en" sz="1800" baseline="-250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(X) = P(S(X ⊕ K</a:t>
            </a:r>
            <a:r>
              <a:rPr lang="en" sz="1800" baseline="-250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))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X: 64-bit state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aseline="-250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: 64-bit round key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⊕ denotes bitwise XOR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S: S-box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P: Permutation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Mathematical Foundations</a:t>
            </a:r>
            <a:endParaRPr sz="2000"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580550" y="1153775"/>
            <a:ext cx="5710800" cy="38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S-box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 non-linear Boolean function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S:{0,1}</a:t>
            </a:r>
            <a:r>
              <a:rPr lang="en" sz="1800" baseline="300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→{0,1}</a:t>
            </a:r>
            <a:r>
              <a:rPr lang="en" sz="1800" baseline="300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aseline="30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S-box Properties, critical to cipher’s security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Non-linearity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Differential uniformity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Avalanche effect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P-layer formula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48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P(i)=16 ⋅ i mod3, for 0 ≤i≤62, P(63)=63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Enhances diffusion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580550" y="278300"/>
            <a:ext cx="5340300" cy="82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Calibri"/>
                <a:ea typeface="Calibri"/>
                <a:cs typeface="Calibri"/>
                <a:sym typeface="Calibri"/>
              </a:rPr>
              <a:t>Mathematical Foundations</a:t>
            </a:r>
            <a:endParaRPr sz="2000" dirty="0"/>
          </a:p>
        </p:txBody>
      </p:sp>
      <p:sp>
        <p:nvSpPr>
          <p:cNvPr id="147" name="Google Shape;147;p24"/>
          <p:cNvSpPr txBox="1">
            <a:spLocks noGrp="1"/>
          </p:cNvSpPr>
          <p:nvPr>
            <p:ph type="body" idx="1"/>
          </p:nvPr>
        </p:nvSpPr>
        <p:spPr>
          <a:xfrm>
            <a:off x="580550" y="1153774"/>
            <a:ext cx="8448734" cy="457051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AddRoundKey performs bitwise XOR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∙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X ← X ⊕ Kᵢ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Combines the current state with the round key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600" dirty="0">
                <a:latin typeface="Calibri"/>
                <a:ea typeface="Calibri"/>
                <a:cs typeface="Calibri"/>
                <a:sym typeface="Calibri"/>
              </a:rPr>
              <a:t>Linear operation over finite field F₂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ym typeface="Calibri"/>
            </a:endParaRPr>
          </a:p>
          <a:p>
            <a:pPr indent="-304800">
              <a:spcBef>
                <a:spcPts val="0"/>
              </a:spcBef>
              <a:buSzPts val="1200"/>
              <a:buFont typeface="Calibri"/>
              <a:buChar char="⬡"/>
            </a:pPr>
            <a:r>
              <a:rPr lang="en-US" sz="1600" dirty="0">
                <a:latin typeface="Calibri"/>
                <a:ea typeface="Calibri"/>
                <a:cs typeface="Calibri"/>
              </a:rPr>
              <a:t>The PRESENT key schedule combines </a:t>
            </a:r>
          </a:p>
          <a:p>
            <a:pPr indent="-304800">
              <a:spcBef>
                <a:spcPts val="0"/>
              </a:spcBef>
              <a:buSzPts val="1200"/>
              <a:buFont typeface="Calibri"/>
              <a:buChar char="⬡"/>
            </a:pPr>
            <a:r>
              <a:rPr lang="en-US" sz="1600" dirty="0">
                <a:latin typeface="Calibri"/>
                <a:ea typeface="Calibri"/>
                <a:cs typeface="Calibri"/>
              </a:rPr>
              <a:t>Modular indexing (Bitwise rotation) </a:t>
            </a:r>
          </a:p>
          <a:p>
            <a:pPr lvl="2" indent="-342900">
              <a:buSzPts val="1800"/>
              <a:buFont typeface="Calibri"/>
              <a:buChar char="∙"/>
            </a:pPr>
            <a:r>
              <a:rPr lang="da-DK" sz="1600" dirty="0">
                <a:latin typeface="Calibri"/>
                <a:ea typeface="Calibri"/>
                <a:cs typeface="Calibri"/>
              </a:rPr>
              <a:t>K′[i]=K[(i+61)mod80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indent="-304800">
              <a:spcBef>
                <a:spcPts val="0"/>
              </a:spcBef>
              <a:buSzPts val="1200"/>
              <a:buFont typeface="Calibri"/>
              <a:buChar char="⬡"/>
            </a:pPr>
            <a:r>
              <a:rPr lang="en-US" sz="1600" dirty="0">
                <a:latin typeface="Calibri"/>
                <a:ea typeface="Calibri"/>
                <a:cs typeface="Calibri"/>
              </a:rPr>
              <a:t>Boolean non-linear substitution (S-Box Substitution)</a:t>
            </a:r>
          </a:p>
          <a:p>
            <a:pPr lvl="2" indent="-342900">
              <a:buSzPts val="1800"/>
              <a:buFont typeface="Calibri"/>
              <a:buChar char="∙"/>
            </a:pP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79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78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77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76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 = S[K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79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78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77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600" baseline="-25000" dirty="0">
                <a:latin typeface="Calibri"/>
                <a:ea typeface="Calibri"/>
                <a:cs typeface="Calibri"/>
                <a:sym typeface="Calibri"/>
              </a:rPr>
              <a:t>76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indent="-304800">
              <a:spcBef>
                <a:spcPts val="0"/>
              </a:spcBef>
              <a:buSzPts val="1200"/>
              <a:buFont typeface="Calibri"/>
              <a:buChar char="⬡"/>
            </a:pPr>
            <a:r>
              <a:rPr lang="en-US" sz="1600" dirty="0">
                <a:latin typeface="Calibri"/>
                <a:ea typeface="Calibri"/>
                <a:cs typeface="Calibri"/>
              </a:rPr>
              <a:t>Field operations over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F₂</a:t>
            </a:r>
          </a:p>
          <a:p>
            <a:pPr lvl="2" indent="-342900">
              <a:buSzPts val="1800"/>
              <a:buFont typeface="Calibri"/>
              <a:buChar char="∙"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= [K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] ⊕ 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roundcounter</a:t>
            </a: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152400" indent="0">
              <a:spcBef>
                <a:spcPts val="0"/>
              </a:spcBef>
              <a:buSzPts val="1200"/>
              <a:buNone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indent="-304800">
              <a:spcBef>
                <a:spcPts val="0"/>
              </a:spcBef>
              <a:buSzPts val="1200"/>
              <a:buFont typeface="Calibri"/>
              <a:buChar char="⬡"/>
            </a:pPr>
            <a:endParaRPr lang="en-US"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1800" b="1" dirty="0"/>
              <a:t> ​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title"/>
          </p:nvPr>
        </p:nvSpPr>
        <p:spPr>
          <a:xfrm>
            <a:off x="580550" y="82150"/>
            <a:ext cx="5340300" cy="666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One-Round Example</a:t>
            </a:r>
            <a:endParaRPr sz="2000"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1"/>
          </p:nvPr>
        </p:nvSpPr>
        <p:spPr>
          <a:xfrm>
            <a:off x="580550" y="928575"/>
            <a:ext cx="6197400" cy="40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Setup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64-bit plaintext: 0x0000000000000000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64-bit round key: 0xFFFFFFFFFFFFFFFF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Using PRESENT S-box and P-layer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Step 1 - AddRoundKey (XOR):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0x0000000000000000 ⊕ 0xFFFFFFFFFFFFFFFF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Result: 0xFFFFFFFFFFFFFFFF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Step 2 - sBoxLayer: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Input: Sixteen 4-bit nibbles: F F F F …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S-box(F) = 2 → All become 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Result: 0x2222222222222222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580550" y="82150"/>
            <a:ext cx="5340300" cy="666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>
                <a:latin typeface="Calibri"/>
                <a:ea typeface="Calibri"/>
                <a:cs typeface="Calibri"/>
                <a:sym typeface="Calibri"/>
              </a:rPr>
              <a:t>One-Round Example</a:t>
            </a:r>
            <a:endParaRPr sz="2000"/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1"/>
          </p:nvPr>
        </p:nvSpPr>
        <p:spPr>
          <a:xfrm>
            <a:off x="580550" y="928575"/>
            <a:ext cx="6197400" cy="40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Step 3 - pLayer (Permutation):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Apply: P(i) = (16 × i) mod 63, for i = 0–62; P(63) = 63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Sample mapping: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Bit 0 → Bit 0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Bit 1 → Bit 16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Bit 2 → Bit 32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Bit 3 → Bit 48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……..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⬡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Bit 63 → Bit 63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Result: 0x0888888888888888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Προβολή στην οθόνη (16:9)</PresentationFormat>
  <Paragraphs>145</Paragraphs>
  <Slides>14</Slides>
  <Notes>14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14</vt:i4>
      </vt:variant>
    </vt:vector>
  </HeadingPairs>
  <TitlesOfParts>
    <vt:vector size="19" baseType="lpstr">
      <vt:lpstr>Calibri</vt:lpstr>
      <vt:lpstr>Lexend Deca</vt:lpstr>
      <vt:lpstr>Muli</vt:lpstr>
      <vt:lpstr>Arial</vt:lpstr>
      <vt:lpstr>Aliena template</vt:lpstr>
      <vt:lpstr>A Mathematical and Practical Study of the PRESENT Cipher</vt:lpstr>
      <vt:lpstr>Table of Contents</vt:lpstr>
      <vt:lpstr>What is the PRESENT Cipher?</vt:lpstr>
      <vt:lpstr>Internal Structure of PRESENT</vt:lpstr>
      <vt:lpstr>AddRoundKey &amp; sBoxLayer</vt:lpstr>
      <vt:lpstr>Permutation Layer</vt:lpstr>
      <vt:lpstr>Permutation Layer</vt:lpstr>
      <vt:lpstr>Key Scheduling Process (80-bit Key)</vt:lpstr>
      <vt:lpstr>Decryption Process</vt:lpstr>
      <vt:lpstr>Mathematical Foundations</vt:lpstr>
      <vt:lpstr>Mathematical Foundations</vt:lpstr>
      <vt:lpstr>Mathematical Foundations</vt:lpstr>
      <vt:lpstr>One-Round Example</vt:lpstr>
      <vt:lpstr>One-Round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Lazaros Papakostas</cp:lastModifiedBy>
  <cp:revision>1</cp:revision>
  <dcterms:modified xsi:type="dcterms:W3CDTF">2025-06-08T19:14:53Z</dcterms:modified>
</cp:coreProperties>
</file>